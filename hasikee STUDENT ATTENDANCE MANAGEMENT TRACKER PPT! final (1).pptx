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328" r:id="rId2"/>
    <p:sldId id="260" r:id="rId3"/>
    <p:sldId id="278" r:id="rId4"/>
    <p:sldId id="257" r:id="rId5"/>
    <p:sldId id="321" r:id="rId6"/>
    <p:sldId id="326" r:id="rId7"/>
    <p:sldId id="322" r:id="rId8"/>
    <p:sldId id="323" r:id="rId9"/>
    <p:sldId id="324" r:id="rId10"/>
    <p:sldId id="277" r:id="rId11"/>
    <p:sldId id="320" r:id="rId12"/>
    <p:sldId id="327" r:id="rId13"/>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901735-0C47-4A61-924C-42E4E28F68C9}" v="1" dt="2026-06-19T08:00:07.6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4" d="100"/>
          <a:sy n="84" d="100"/>
        </p:scale>
        <p:origin x="600"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6/19/2026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82A2A7-8E58-4AA3-854C-AFDBFBEC253A}" type="slidenum">
              <a:rPr lang="en-US" smtClean="0"/>
              <a:pPr/>
              <a:t>4</a:t>
            </a:fld>
            <a:endParaRPr lang="en-US"/>
          </a:p>
        </p:txBody>
      </p:sp>
    </p:spTree>
    <p:extLst>
      <p:ext uri="{BB962C8B-B14F-4D97-AF65-F5344CB8AC3E}">
        <p14:creationId xmlns:p14="http://schemas.microsoft.com/office/powerpoint/2010/main" val="11783749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82A2A7-8E58-4AA3-854C-AFDBFBEC253A}" type="slidenum">
              <a:rPr lang="en-US" smtClean="0"/>
              <a:pPr/>
              <a:t>5</a:t>
            </a:fld>
            <a:endParaRPr lang="en-US"/>
          </a:p>
        </p:txBody>
      </p:sp>
    </p:spTree>
    <p:extLst>
      <p:ext uri="{BB962C8B-B14F-4D97-AF65-F5344CB8AC3E}">
        <p14:creationId xmlns:p14="http://schemas.microsoft.com/office/powerpoint/2010/main" val="1765434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6/19/2026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klh.edu.in/" TargetMode="External"/><Relationship Id="rId2" Type="http://schemas.openxmlformats.org/officeDocument/2006/relationships/hyperlink" Target="https://github.com/hassshiiui/Smart-Student-Attendence-Management-System" TargetMode="Externa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D4452570-7F24-7467-EFEB-5D88B9BF6849}"/>
              </a:ext>
            </a:extLst>
          </p:cNvPr>
          <p:cNvSpPr txBox="1"/>
          <p:nvPr/>
        </p:nvSpPr>
        <p:spPr>
          <a:xfrm>
            <a:off x="685800" y="0"/>
            <a:ext cx="7772400" cy="1201361"/>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br>
              <a:rPr lang="en-US" sz="18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a:t>
            </a:r>
            <a:br>
              <a:rPr lang="en-US" sz="1800" dirty="0">
                <a:latin typeface="Times New Roman" panose="02020603050405020304" pitchFamily="18" charset="0"/>
                <a:cs typeface="Times New Roman" panose="02020603050405020304" pitchFamily="18" charset="0"/>
              </a:rPr>
            </a:br>
            <a:r>
              <a:rPr lang="en-US" sz="3600" b="1" dirty="0">
                <a:solidFill>
                  <a:srgbClr val="FF0000"/>
                </a:solidFill>
                <a:latin typeface="Times New Roman" panose="02020603050405020304" pitchFamily="18" charset="0"/>
                <a:cs typeface="Times New Roman" panose="02020603050405020304" pitchFamily="18" charset="0"/>
              </a:rPr>
              <a:t>Project Review Meeting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on</a:t>
            </a:r>
            <a:br>
              <a:rPr lang="en-US" sz="2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t>
            </a:r>
            <a:r>
              <a:rPr lang="en-IN" sz="4000" b="1" dirty="0">
                <a:hlinkClick r:id="rId2">
                  <a:extLst>
                    <a:ext uri="{A12FA001-AC4F-418D-AE19-62706E023703}">
                      <ahyp:hlinkClr xmlns:ahyp="http://schemas.microsoft.com/office/drawing/2018/hyperlinkcolor" val="tx"/>
                    </a:ext>
                  </a:extLst>
                </a:hlinkClick>
              </a:rPr>
              <a:t>Smart-Student-</a:t>
            </a:r>
            <a:r>
              <a:rPr lang="en-IN" sz="4000" b="1" dirty="0" err="1">
                <a:hlinkClick r:id="rId2">
                  <a:extLst>
                    <a:ext uri="{A12FA001-AC4F-418D-AE19-62706E023703}">
                      <ahyp:hlinkClr xmlns:ahyp="http://schemas.microsoft.com/office/drawing/2018/hyperlinkcolor" val="tx"/>
                    </a:ext>
                  </a:extLst>
                </a:hlinkClick>
              </a:rPr>
              <a:t>Attendence</a:t>
            </a:r>
            <a:r>
              <a:rPr lang="en-IN" sz="4000" b="1" dirty="0">
                <a:hlinkClick r:id="rId2">
                  <a:extLst>
                    <a:ext uri="{A12FA001-AC4F-418D-AE19-62706E023703}">
                      <ahyp:hlinkClr xmlns:ahyp="http://schemas.microsoft.com/office/drawing/2018/hyperlinkcolor" val="tx"/>
                    </a:ext>
                  </a:extLst>
                </a:hlinkClick>
              </a:rPr>
              <a:t>-Management-System</a:t>
            </a:r>
            <a:endParaRPr lang="en-US" sz="4000" b="1" dirty="0">
              <a:latin typeface="Times New Roman" panose="02020603050405020304" pitchFamily="18" charset="0"/>
              <a:cs typeface="Times New Roman" panose="02020603050405020304" pitchFamily="18" charset="0"/>
            </a:endParaRPr>
          </a:p>
        </p:txBody>
      </p:sp>
      <p:sp>
        <p:nvSpPr>
          <p:cNvPr id="23" name="Subtitle 2">
            <a:extLst>
              <a:ext uri="{FF2B5EF4-FFF2-40B4-BE49-F238E27FC236}">
                <a16:creationId xmlns:a16="http://schemas.microsoft.com/office/drawing/2014/main" id="{2B40BCB5-109D-ADA5-818B-1A7D99122C4A}"/>
              </a:ext>
            </a:extLst>
          </p:cNvPr>
          <p:cNvSpPr txBox="1"/>
          <p:nvPr/>
        </p:nvSpPr>
        <p:spPr>
          <a:xfrm>
            <a:off x="342900" y="1143000"/>
            <a:ext cx="8458200" cy="2895600"/>
          </a:xfrm>
          <a:prstGeom prst="rect">
            <a:avLst/>
          </a:prstGeom>
        </p:spPr>
        <p:txBody>
          <a:bodyPr vert="horz" lIns="91440" tIns="45720" rIns="91440" bIns="45720" rtlCol="0">
            <a:normAutofit fontScale="475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ctr">
              <a:lnSpc>
                <a:spcPct val="80000"/>
              </a:lnSpc>
              <a:defRPr/>
            </a:pPr>
            <a:endParaRPr lang="en-US" sz="2000" dirty="0">
              <a:solidFill>
                <a:srgbClr val="0D0D0D"/>
              </a:solidFill>
              <a:latin typeface="Times New Roman" panose="02020603050405020304" pitchFamily="18" charset="0"/>
              <a:cs typeface="Times New Roman" panose="02020603050405020304" pitchFamily="18" charset="0"/>
            </a:endParaRPr>
          </a:p>
          <a:p>
            <a:pPr algn="ctr">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L="0" indent="0" algn="ctr">
              <a:lnSpc>
                <a:spcPct val="80000"/>
              </a:lnSpc>
              <a:buNone/>
              <a:defRPr/>
            </a:pPr>
            <a:r>
              <a:rPr lang="en-US" sz="2600" b="1" dirty="0">
                <a:solidFill>
                  <a:srgbClr val="00B0F0"/>
                </a:solidFill>
                <a:latin typeface="Times New Roman" panose="02020603050405020304" pitchFamily="18" charset="0"/>
                <a:cs typeface="Times New Roman" panose="02020603050405020304" pitchFamily="18" charset="0"/>
              </a:rPr>
              <a:t>By</a:t>
            </a:r>
          </a:p>
          <a:p>
            <a:pPr algn="ctr">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L="0" indent="0" algn="ctr">
              <a:lnSpc>
                <a:spcPct val="80000"/>
              </a:lnSpc>
              <a:buNone/>
              <a:defRPr/>
            </a:pPr>
            <a:r>
              <a:rPr lang="en-US" sz="3300" dirty="0">
                <a:solidFill>
                  <a:srgbClr val="0D0D0D"/>
                </a:solidFill>
                <a:latin typeface="Times New Roman" panose="02020603050405020304" pitchFamily="18" charset="0"/>
                <a:cs typeface="Times New Roman" panose="02020603050405020304" pitchFamily="18" charset="0"/>
              </a:rPr>
              <a:t>Name  Kheerthi Ganta              roll 2520030383</a:t>
            </a:r>
          </a:p>
          <a:p>
            <a:pPr marL="0" indent="0" algn="ctr">
              <a:lnSpc>
                <a:spcPct val="80000"/>
              </a:lnSpc>
              <a:buNone/>
              <a:defRPr/>
            </a:pPr>
            <a:r>
              <a:rPr lang="en-US" sz="3300" dirty="0">
                <a:solidFill>
                  <a:srgbClr val="0D0D0D"/>
                </a:solidFill>
                <a:latin typeface="Times New Roman" panose="02020603050405020304" pitchFamily="18" charset="0"/>
                <a:cs typeface="Times New Roman" panose="02020603050405020304" pitchFamily="18" charset="0"/>
              </a:rPr>
              <a:t>Name  Hasini </a:t>
            </a:r>
            <a:r>
              <a:rPr lang="en-US" sz="3300" dirty="0" err="1">
                <a:solidFill>
                  <a:srgbClr val="0D0D0D"/>
                </a:solidFill>
                <a:latin typeface="Times New Roman" panose="02020603050405020304" pitchFamily="18" charset="0"/>
                <a:cs typeface="Times New Roman" panose="02020603050405020304" pitchFamily="18" charset="0"/>
              </a:rPr>
              <a:t>Katakamsetty</a:t>
            </a:r>
            <a:r>
              <a:rPr lang="en-US" sz="3300" dirty="0">
                <a:solidFill>
                  <a:srgbClr val="0D0D0D"/>
                </a:solidFill>
                <a:latin typeface="Times New Roman" panose="02020603050405020304" pitchFamily="18" charset="0"/>
                <a:cs typeface="Times New Roman" panose="02020603050405020304" pitchFamily="18" charset="0"/>
              </a:rPr>
              <a:t>     roll 2520030547</a:t>
            </a:r>
          </a:p>
          <a:p>
            <a:pPr marL="0" indent="0">
              <a:lnSpc>
                <a:spcPct val="80000"/>
              </a:lnSpc>
              <a:buNone/>
              <a:defRPr/>
            </a:pPr>
            <a:r>
              <a:rPr lang="en-US" sz="3600" b="1" dirty="0">
                <a:solidFill>
                  <a:srgbClr val="00B0F0"/>
                </a:solidFill>
                <a:latin typeface="Times New Roman" panose="02020603050405020304" pitchFamily="18" charset="0"/>
                <a:cs typeface="Times New Roman" panose="02020603050405020304" pitchFamily="18" charset="0"/>
              </a:rPr>
              <a:t>Team Number : 1</a:t>
            </a:r>
          </a:p>
          <a:p>
            <a:pPr marL="0" indent="0" algn="ctr">
              <a:lnSpc>
                <a:spcPct val="80000"/>
              </a:lnSpc>
              <a:buNone/>
              <a:defRPr/>
            </a:pPr>
            <a:endParaRPr lang="en-US" sz="3300" dirty="0">
              <a:solidFill>
                <a:srgbClr val="0D0D0D"/>
              </a:solidFill>
              <a:latin typeface="Times New Roman" panose="02020603050405020304" pitchFamily="18" charset="0"/>
              <a:cs typeface="Times New Roman" panose="02020603050405020304" pitchFamily="18" charset="0"/>
            </a:endParaRPr>
          </a:p>
          <a:p>
            <a:pPr algn="ctr">
              <a:lnSpc>
                <a:spcPct val="80000"/>
              </a:lnSpc>
              <a:defRPr/>
            </a:pPr>
            <a:endParaRPr lang="en-US" sz="1300" b="1" dirty="0">
              <a:solidFill>
                <a:srgbClr val="FF0000"/>
              </a:solidFill>
              <a:latin typeface="Times New Roman" panose="02020603050405020304" pitchFamily="18" charset="0"/>
              <a:cs typeface="Times New Roman" panose="02020603050405020304" pitchFamily="18" charset="0"/>
            </a:endParaRPr>
          </a:p>
          <a:p>
            <a:pPr marL="0" indent="0" algn="ctr">
              <a:lnSpc>
                <a:spcPct val="80000"/>
              </a:lnSpc>
              <a:buNone/>
              <a:defRPr/>
            </a:pPr>
            <a:r>
              <a:rPr lang="en-GB" sz="3300" b="1" i="1" dirty="0">
                <a:solidFill>
                  <a:srgbClr val="FF0000"/>
                </a:solidFill>
                <a:latin typeface="Times New Roman" panose="02020603050405020304" pitchFamily="18" charset="0"/>
                <a:ea typeface="Times New Roman" panose="02020603050405020304" pitchFamily="18" charset="0"/>
              </a:rPr>
              <a:t>Under the guidance of </a:t>
            </a:r>
          </a:p>
          <a:p>
            <a:pPr marL="0" indent="0" algn="ctr">
              <a:lnSpc>
                <a:spcPct val="80000"/>
              </a:lnSpc>
              <a:buNone/>
              <a:defRPr/>
            </a:pPr>
            <a:endParaRPr lang="en-US" sz="2400" dirty="0">
              <a:solidFill>
                <a:srgbClr val="0D0D0D"/>
              </a:solidFill>
              <a:latin typeface="Times New Roman" panose="02020603050405020304" pitchFamily="18" charset="0"/>
              <a:cs typeface="Times New Roman" panose="02020603050405020304" pitchFamily="18" charset="0"/>
            </a:endParaRPr>
          </a:p>
          <a:p>
            <a:pPr marL="0" indent="0" algn="ctr">
              <a:lnSpc>
                <a:spcPct val="80000"/>
              </a:lnSpc>
              <a:buNone/>
              <a:defRPr/>
            </a:pPr>
            <a:r>
              <a:rPr lang="en-US" sz="3400" b="1" dirty="0">
                <a:solidFill>
                  <a:srgbClr val="00B0F0"/>
                </a:solidFill>
                <a:latin typeface="Times New Roman" panose="02020603050405020304" pitchFamily="18" charset="0"/>
                <a:cs typeface="Times New Roman" panose="02020603050405020304" pitchFamily="18" charset="0"/>
              </a:rPr>
              <a:t>Ms. D.Pavithra Assistant Professor </a:t>
            </a:r>
          </a:p>
          <a:p>
            <a:pPr algn="ctr">
              <a:lnSpc>
                <a:spcPct val="80000"/>
              </a:lnSpc>
              <a:defRPr/>
            </a:pPr>
            <a:endParaRPr lang="en-US" sz="2400" b="1" dirty="0">
              <a:solidFill>
                <a:srgbClr val="0070C0"/>
              </a:solidFill>
              <a:latin typeface="Times New Roman" panose="02020603050405020304" pitchFamily="18" charset="0"/>
              <a:cs typeface="Times New Roman" panose="02020603050405020304" pitchFamily="18" charset="0"/>
            </a:endParaRPr>
          </a:p>
          <a:p>
            <a:pPr marL="0" indent="0" algn="ctr">
              <a:lnSpc>
                <a:spcPct val="80000"/>
              </a:lnSpc>
              <a:buNone/>
              <a:defRPr/>
            </a:pPr>
            <a:r>
              <a:rPr lang="en-US" sz="4400" b="1" dirty="0">
                <a:solidFill>
                  <a:srgbClr val="0070C0"/>
                </a:solidFill>
                <a:latin typeface="Times New Roman" panose="02020603050405020304" pitchFamily="18" charset="0"/>
                <a:cs typeface="Times New Roman" panose="02020603050405020304" pitchFamily="18" charset="0"/>
              </a:rPr>
              <a:t>Department of Computer Science and Engineering</a:t>
            </a:r>
          </a:p>
          <a:p>
            <a:pPr marL="0" indent="0">
              <a:lnSpc>
                <a:spcPct val="80000"/>
              </a:lnSpc>
              <a:buNone/>
              <a:defRPr/>
            </a:pPr>
            <a:r>
              <a:rPr lang="en-US" sz="2400" b="1" dirty="0">
                <a:solidFill>
                  <a:srgbClr val="0D0D0D"/>
                </a:solidFill>
                <a:latin typeface="Times New Roman" panose="02020603050405020304" pitchFamily="18" charset="0"/>
                <a:cs typeface="Times New Roman" panose="02020603050405020304" pitchFamily="18" charset="0"/>
              </a:rPr>
              <a:t>                                                </a:t>
            </a:r>
            <a:r>
              <a:rPr lang="en-US" sz="2400" dirty="0">
                <a:solidFill>
                  <a:srgbClr val="0D0D0D"/>
                </a:solidFill>
                <a:latin typeface="Times New Roman" panose="02020603050405020304" pitchFamily="18" charset="0"/>
                <a:cs typeface="Times New Roman" panose="02020603050405020304" pitchFamily="18" charset="0"/>
              </a:rPr>
              <a:t>                                                                          </a:t>
            </a:r>
          </a:p>
        </p:txBody>
      </p:sp>
      <p:sp>
        <p:nvSpPr>
          <p:cNvPr id="25" name="TextBox 24">
            <a:extLst>
              <a:ext uri="{FF2B5EF4-FFF2-40B4-BE49-F238E27FC236}">
                <a16:creationId xmlns:a16="http://schemas.microsoft.com/office/drawing/2014/main" id="{7E63F408-7054-1D30-0593-18CC596BC4DA}"/>
              </a:ext>
            </a:extLst>
          </p:cNvPr>
          <p:cNvSpPr txBox="1"/>
          <p:nvPr/>
        </p:nvSpPr>
        <p:spPr>
          <a:xfrm>
            <a:off x="-106993" y="522517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Lakshmaiah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estd.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Bachupally-Gandimaisamma Road, Bowrampet,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3"/>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7" name="Picture 26">
            <a:extLst>
              <a:ext uri="{FF2B5EF4-FFF2-40B4-BE49-F238E27FC236}">
                <a16:creationId xmlns:a16="http://schemas.microsoft.com/office/drawing/2014/main" id="{B827703F-FDDD-E03B-9D3A-F2604F781F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15014" y="3657600"/>
            <a:ext cx="2499986" cy="1253047"/>
          </a:xfrm>
          <a:prstGeom prst="rect">
            <a:avLst/>
          </a:prstGeom>
          <a:noFill/>
          <a:ln>
            <a:noFill/>
          </a:ln>
        </p:spPr>
      </p:pic>
    </p:spTree>
    <p:extLst>
      <p:ext uri="{BB962C8B-B14F-4D97-AF65-F5344CB8AC3E}">
        <p14:creationId xmlns:p14="http://schemas.microsoft.com/office/powerpoint/2010/main" val="4863519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dirty="0">
                <a:solidFill>
                  <a:srgbClr val="0070C0"/>
                </a:solidFill>
                <a:latin typeface="Times New Roman" pitchFamily="18" charset="0"/>
                <a:cs typeface="Times New Roman" pitchFamily="18" charset="0"/>
              </a:rPr>
              <a:t>Outline of the Presentation</a:t>
            </a:r>
          </a:p>
        </p:txBody>
      </p:sp>
      <p:sp>
        <p:nvSpPr>
          <p:cNvPr id="3" name="Content Placeholder 2"/>
          <p:cNvSpPr>
            <a:spLocks noGrp="1"/>
          </p:cNvSpPr>
          <p:nvPr>
            <p:ph idx="1"/>
          </p:nvPr>
        </p:nvSpPr>
        <p:spPr>
          <a:xfrm>
            <a:off x="304800" y="1447801"/>
            <a:ext cx="8839200" cy="4678363"/>
          </a:xfrm>
        </p:spPr>
        <p:txBody>
          <a:bodyPr>
            <a:normAutofit fontScale="85000" lnSpcReduction="20000"/>
          </a:bodyPr>
          <a:lstStyle/>
          <a:p>
            <a:r>
              <a:rPr lang="en-US" sz="2000" dirty="0">
                <a:latin typeface="Times New Roman" pitchFamily="18" charset="0"/>
                <a:cs typeface="Times New Roman" pitchFamily="18" charset="0"/>
              </a:rPr>
              <a:t>Abstract</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Introduction</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Problem Statement</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Project Flow Diagram</a:t>
            </a:r>
          </a:p>
          <a:p>
            <a:pPr marL="0" indent="0">
              <a:buNone/>
            </a:pPr>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Objectives with Justification</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Modules[Frontend web pages]</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Expected Outcomes of the Proposed Work</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Conclusion </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References</a:t>
            </a:r>
          </a:p>
          <a:p>
            <a:endParaRPr lang="en-US" sz="2000"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pic>
        <p:nvPicPr>
          <p:cNvPr id="5" name="Picture 4">
            <a:extLst>
              <a:ext uri="{FF2B5EF4-FFF2-40B4-BE49-F238E27FC236}">
                <a16:creationId xmlns:a16="http://schemas.microsoft.com/office/drawing/2014/main" id="{08703F64-1981-E3B7-E2B4-D11A4F6B6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8658"/>
            <a:ext cx="8229600" cy="1143000"/>
          </a:xfrm>
        </p:spPr>
        <p:txBody>
          <a:bodyPr>
            <a:normAutofit/>
          </a:bodyPr>
          <a:lstStyle/>
          <a:p>
            <a:r>
              <a:rPr lang="en-US" sz="2800" b="1" dirty="0">
                <a:solidFill>
                  <a:srgbClr val="0070C0"/>
                </a:solidFill>
                <a:latin typeface="Times New Roman" pitchFamily="18" charset="0"/>
                <a:cs typeface="Times New Roman" pitchFamily="18" charset="0"/>
              </a:rPr>
              <a:t>Abstract</a:t>
            </a:r>
            <a:endParaRPr lang="en-US" sz="2800" dirty="0"/>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0" y="685800"/>
            <a:ext cx="9144000" cy="5715000"/>
          </a:xfrm>
        </p:spPr>
        <p:txBody>
          <a:bodyPr>
            <a:normAutofit/>
          </a:bodyPr>
          <a:lstStyle/>
          <a:p>
            <a:pPr marL="0" indent="0">
              <a:buNone/>
            </a:pPr>
            <a:endParaRPr lang="en-IN" b="1" dirty="0"/>
          </a:p>
          <a:p>
            <a:r>
              <a:rPr lang="en-IN" sz="2300" dirty="0"/>
              <a:t> </a:t>
            </a:r>
            <a:r>
              <a:rPr lang="en-IN" sz="1700" dirty="0"/>
              <a:t>An advanced digital solution designed to automate and simplify the process of recording and managing student attendance in educational institutions. Traditional attendance methods are time-consuming, prone to errors, and require manual effort from teachers. This system overcomes those limitations by using modern technologies such as RFID, biometric authentication, QR codes, facial recognition, or web-based applications to mark attendance accurately and efficiently.</a:t>
            </a:r>
          </a:p>
          <a:p>
            <a:endParaRPr lang="en-IN" sz="1700" dirty="0"/>
          </a:p>
          <a:p>
            <a:r>
              <a:rPr lang="en-IN" sz="1700" dirty="0"/>
              <a:t>The main objective of the system is to provide a fast, secure, and reliable attendance monitoring process while reducing paperwork and human errors. The system stores attendance records in a centralized database, allowing teachers and administrators to easily access, update, and analyse attendance information in real time. It also helps in generating attendance reports, monitoring student participation, and sending notifications to parents or guardians regarding absenteeism</a:t>
            </a:r>
            <a:r>
              <a:rPr lang="en-IN" sz="2100" dirty="0"/>
              <a:t>.</a:t>
            </a:r>
          </a:p>
          <a:p>
            <a:endParaRPr lang="en-IN" sz="2300" dirty="0"/>
          </a:p>
          <a:p>
            <a:r>
              <a:rPr lang="en-IN" sz="1700" dirty="0"/>
              <a:t>The proposed system improves transparency, saves valuable classroom time, and enhances institutional management. Additionally, it ensures better data security and supports easy maintenance of attendance records for future reference. Overall, the Smart Student Attendance Management System offers an efficient and intelligent approach to modern attendance management in schools, colleges, and universities</a:t>
            </a:r>
            <a:r>
              <a:rPr lang="en-IN" sz="2300" dirty="0"/>
              <a:t>.</a:t>
            </a:r>
          </a:p>
          <a:p>
            <a:endParaRPr lang="en-US" dirty="0"/>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sz="2800" b="1" dirty="0">
                <a:solidFill>
                  <a:srgbClr val="0070C0"/>
                </a:solidFill>
                <a:latin typeface="Times New Roman" pitchFamily="18" charset="0"/>
                <a:cs typeface="Times New Roman" pitchFamily="18" charset="0"/>
              </a:rPr>
              <a:t>Introduction</a:t>
            </a:r>
          </a:p>
        </p:txBody>
      </p:sp>
      <p:sp>
        <p:nvSpPr>
          <p:cNvPr id="5" name="Content Placeholder 4">
            <a:extLst>
              <a:ext uri="{FF2B5EF4-FFF2-40B4-BE49-F238E27FC236}">
                <a16:creationId xmlns:a16="http://schemas.microsoft.com/office/drawing/2014/main" id="{D37586B6-5276-B3E3-CFD5-8DB648A7A841}"/>
              </a:ext>
            </a:extLst>
          </p:cNvPr>
          <p:cNvSpPr>
            <a:spLocks noGrp="1"/>
          </p:cNvSpPr>
          <p:nvPr>
            <p:ph idx="1"/>
          </p:nvPr>
        </p:nvSpPr>
        <p:spPr>
          <a:xfrm>
            <a:off x="0" y="838200"/>
            <a:ext cx="9067800" cy="5867400"/>
          </a:xfrm>
        </p:spPr>
        <p:txBody>
          <a:bodyPr>
            <a:normAutofit fontScale="47500" lnSpcReduction="20000"/>
          </a:bodyPr>
          <a:lstStyle/>
          <a:p>
            <a:endParaRPr lang="en-IN" sz="3400" dirty="0">
              <a:latin typeface="+mj-lt"/>
            </a:endParaRPr>
          </a:p>
          <a:p>
            <a:endParaRPr lang="en-IN" sz="3400" dirty="0">
              <a:latin typeface="+mj-lt"/>
            </a:endParaRPr>
          </a:p>
          <a:p>
            <a:r>
              <a:rPr lang="en-IN" sz="3400" dirty="0">
                <a:latin typeface="+mj-lt"/>
              </a:rPr>
              <a:t>In today’s fast-paced educational environment, maintaining accurate student attendance has become an important yet challenging task for educational institutions. Traditional attendance methods, such as manual roll calls and paper registers, are time-consuming, error-prone, and difficult to manage efficiently. These limitations can affect classroom productivity, data accuracy, and overall administrative performance. With the rapid advancement of digital technology, there is a growing need for a smarter and more automated solution for attendance management.</a:t>
            </a:r>
          </a:p>
          <a:p>
            <a:endParaRPr lang="en-IN" dirty="0">
              <a:latin typeface="+mj-lt"/>
            </a:endParaRPr>
          </a:p>
          <a:p>
            <a:r>
              <a:rPr lang="en-IN" sz="3400" dirty="0">
                <a:latin typeface="+mj-lt"/>
              </a:rPr>
              <a:t>The Smart Student Attendance Management System is designed as an efficient and reliable platform to simplify the process of recording and monitoring student attendance. The system uses modern technologies such as RFID, biometric authentication, QR codes, facial recognition, or mobile applications to automate attendance marking and reduce manual effort. It stores attendance records in a centralized database, allowing teachers and administrators to easily access, manage, and </a:t>
            </a:r>
            <a:r>
              <a:rPr lang="en-IN" sz="3400" dirty="0" err="1">
                <a:latin typeface="+mj-lt"/>
              </a:rPr>
              <a:t>analyze</a:t>
            </a:r>
            <a:r>
              <a:rPr lang="en-IN" sz="3400" dirty="0">
                <a:latin typeface="+mj-lt"/>
              </a:rPr>
              <a:t> attendance information in real time.</a:t>
            </a:r>
          </a:p>
          <a:p>
            <a:endParaRPr lang="en-IN" sz="3400" dirty="0">
              <a:latin typeface="+mj-lt"/>
            </a:endParaRPr>
          </a:p>
          <a:p>
            <a:r>
              <a:rPr lang="en-IN" sz="3400" dirty="0">
                <a:latin typeface="+mj-lt"/>
              </a:rPr>
              <a:t>The application also provides useful features such as attendance reports, percentage calculations, student performance monitoring, and automated notifications for students and parents. By integrating digital tracking, data management, and real-time monitoring, the system improves accuracy, saves valuable classroom time, and enhances institutional efficiency.</a:t>
            </a:r>
          </a:p>
          <a:p>
            <a:endParaRPr lang="en-IN" dirty="0">
              <a:latin typeface="+mj-lt"/>
            </a:endParaRPr>
          </a:p>
          <a:p>
            <a:r>
              <a:rPr lang="en-IN" sz="3400" dirty="0">
                <a:latin typeface="+mj-lt"/>
              </a:rPr>
              <a:t>Overall, the Smart Student Attendance Management System aims to create a user-friendly, secure, and transparent attendance solution that promotes discipline, reduces administrative workload, and supports better academic management in educational institutions</a:t>
            </a:r>
            <a:endParaRPr lang="en-US" sz="3400" dirty="0">
              <a:latin typeface="+mj-lt"/>
            </a:endParaRPr>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12521-5D18-3AE3-CFBD-94ED2EEDAA41}"/>
              </a:ext>
            </a:extLst>
          </p:cNvPr>
          <p:cNvSpPr>
            <a:spLocks noGrp="1"/>
          </p:cNvSpPr>
          <p:nvPr>
            <p:ph type="title"/>
          </p:nvPr>
        </p:nvSpPr>
        <p:spPr/>
        <p:txBody>
          <a:bodyPr>
            <a:normAutofit fontScale="90000"/>
          </a:bodyPr>
          <a:lstStyle/>
          <a:p>
            <a:r>
              <a:rPr lang="en-US" sz="3100" b="1" dirty="0">
                <a:solidFill>
                  <a:srgbClr val="0070C0"/>
                </a:solidFill>
                <a:latin typeface="Times New Roman" pitchFamily="18" charset="0"/>
                <a:cs typeface="Times New Roman" pitchFamily="18" charset="0"/>
              </a:rPr>
              <a:t>Problem Statement</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FAD7B1E9-20DA-C5AF-B180-FACA7043610C}"/>
              </a:ext>
            </a:extLst>
          </p:cNvPr>
          <p:cNvSpPr>
            <a:spLocks noGrp="1"/>
          </p:cNvSpPr>
          <p:nvPr>
            <p:ph idx="1"/>
          </p:nvPr>
        </p:nvSpPr>
        <p:spPr>
          <a:xfrm>
            <a:off x="0" y="1143000"/>
            <a:ext cx="9067800" cy="5440361"/>
          </a:xfrm>
        </p:spPr>
        <p:txBody>
          <a:bodyPr>
            <a:normAutofit/>
          </a:bodyPr>
          <a:lstStyle/>
          <a:p>
            <a:r>
              <a:rPr lang="en-GB" sz="1600" dirty="0"/>
              <a:t>In many educational institutions, student attendance is still recorded manually using paper registers or basic spreadsheets. This traditional method is time-consuming, prone to human errors, and makes it difficult to maintain accurate attendance records. Faculty members often spend valuable class time marking attendance, while administrators face challenges in tracking student attendance, generating reports, and identifying students with low attendance.</a:t>
            </a:r>
          </a:p>
          <a:p>
            <a:pPr marL="0" indent="0">
              <a:buNone/>
            </a:pPr>
            <a:endParaRPr lang="en-GB" sz="1600" dirty="0"/>
          </a:p>
          <a:p>
            <a:r>
              <a:rPr lang="en-GB" sz="1600" dirty="0"/>
              <a:t>A Smart Attendance Student Management Tracker is needed to automate the attendance process, improve accuracy, and provide real-time access to attendance data. The system should allow secure attendance recording, efficient storage of records, automatic report generation, and easy monitoring of student attendance by faculty and administrators. By reducing manual effort and enhancing data management, the system aims to improve operational efficiency and support better academic monitoring within educational institutions</a:t>
            </a:r>
            <a:r>
              <a:rPr lang="en-GB" sz="1900" dirty="0"/>
              <a:t>.</a:t>
            </a:r>
          </a:p>
          <a:p>
            <a:pPr marL="0" indent="0">
              <a:buNone/>
            </a:pPr>
            <a:endParaRPr lang="en-GB" sz="1900" dirty="0"/>
          </a:p>
          <a:p>
            <a:r>
              <a:rPr lang="en-IN" sz="1600" dirty="0"/>
              <a:t>The objective of the system is to improve accuracy, reduce administrative workload, enhance transparency, and ensure effective attendance monitoring within educational institutions.</a:t>
            </a:r>
          </a:p>
          <a:p>
            <a:endParaRPr lang="en-IN" sz="1600" dirty="0"/>
          </a:p>
          <a:p>
            <a:r>
              <a:rPr lang="en-IN" sz="1600" dirty="0"/>
              <a:t>The Student Attendance Management Tracker is an efficient solution for educational institutions to manage attendance records digitally. By automating attendance-related tasks, the system improves accuracy, transparency, and productivity while reducing administrative workload.</a:t>
            </a:r>
            <a:endParaRPr lang="en-GB" sz="1600" dirty="0"/>
          </a:p>
          <a:p>
            <a:pPr marL="0" indent="0">
              <a:buNone/>
            </a:pPr>
            <a:endParaRPr lang="en-GB" sz="2100" dirty="0"/>
          </a:p>
          <a:p>
            <a:endParaRPr lang="en-US" dirty="0"/>
          </a:p>
        </p:txBody>
      </p:sp>
      <p:pic>
        <p:nvPicPr>
          <p:cNvPr id="3" name="Picture 2">
            <a:extLst>
              <a:ext uri="{FF2B5EF4-FFF2-40B4-BE49-F238E27FC236}">
                <a16:creationId xmlns:a16="http://schemas.microsoft.com/office/drawing/2014/main" id="{3A16AF5D-F740-815B-410D-F8AD0C19F9E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extLst>
      <p:ext uri="{BB962C8B-B14F-4D97-AF65-F5344CB8AC3E}">
        <p14:creationId xmlns:p14="http://schemas.microsoft.com/office/powerpoint/2010/main" val="1490799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927C-18CB-E7CD-17FE-184519BC8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0BF7C-4E42-3323-319A-9E8717B94BB8}"/>
              </a:ext>
            </a:extLst>
          </p:cNvPr>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Project Flow Diagram</a:t>
            </a:r>
          </a:p>
        </p:txBody>
      </p:sp>
      <p:sp>
        <p:nvSpPr>
          <p:cNvPr id="5" name="Content Placeholder 4">
            <a:extLst>
              <a:ext uri="{FF2B5EF4-FFF2-40B4-BE49-F238E27FC236}">
                <a16:creationId xmlns:a16="http://schemas.microsoft.com/office/drawing/2014/main" id="{1C7B0B59-E773-3598-767E-554F3BF62EB8}"/>
              </a:ext>
            </a:extLst>
          </p:cNvPr>
          <p:cNvSpPr>
            <a:spLocks noGrp="1"/>
          </p:cNvSpPr>
          <p:nvPr>
            <p:ph idx="1"/>
          </p:nvPr>
        </p:nvSpPr>
        <p:spPr>
          <a:xfrm>
            <a:off x="609600" y="1166018"/>
            <a:ext cx="8229600" cy="4525963"/>
          </a:xfrm>
        </p:spPr>
        <p:txBody>
          <a:bodyPr>
            <a:noAutofit/>
          </a:bodyPr>
          <a:lstStyle/>
          <a:p>
            <a:r>
              <a:rPr lang="en-US" sz="1600" dirty="0"/>
              <a:t>Admin/Faculty</a:t>
            </a:r>
          </a:p>
          <a:p>
            <a:r>
              <a:rPr lang="en-US" sz="1600" dirty="0"/>
              <a:t>       |</a:t>
            </a:r>
          </a:p>
          <a:p>
            <a:r>
              <a:rPr lang="en-US" sz="1600" dirty="0"/>
              <a:t>       v</a:t>
            </a:r>
          </a:p>
          <a:p>
            <a:r>
              <a:rPr lang="en-US" sz="1600" dirty="0"/>
              <a:t>+------------------+</a:t>
            </a:r>
          </a:p>
          <a:p>
            <a:r>
              <a:rPr lang="en-US" sz="1600" dirty="0"/>
              <a:t>| Attendance System|</a:t>
            </a:r>
          </a:p>
          <a:p>
            <a:r>
              <a:rPr lang="en-US" sz="1600" dirty="0"/>
              <a:t>+------------------+</a:t>
            </a:r>
          </a:p>
          <a:p>
            <a:r>
              <a:rPr lang="en-US" sz="1600" dirty="0"/>
              <a:t>       |</a:t>
            </a:r>
          </a:p>
          <a:p>
            <a:r>
              <a:rPr lang="en-US" sz="1600" dirty="0"/>
              <a:t>  -----------------</a:t>
            </a:r>
          </a:p>
          <a:p>
            <a:r>
              <a:rPr lang="en-US" sz="1600" dirty="0"/>
              <a:t>  |       |       |</a:t>
            </a:r>
          </a:p>
          <a:p>
            <a:r>
              <a:rPr lang="en-US" sz="1600" dirty="0"/>
              <a:t>  v       </a:t>
            </a:r>
            <a:r>
              <a:rPr lang="en-US" sz="1600" dirty="0" err="1"/>
              <a:t>v</a:t>
            </a:r>
            <a:r>
              <a:rPr lang="en-US" sz="1600" dirty="0"/>
              <a:t>       </a:t>
            </a:r>
            <a:r>
              <a:rPr lang="en-US" sz="1600" dirty="0" err="1"/>
              <a:t>v</a:t>
            </a:r>
            <a:endParaRPr lang="en-US" sz="1600" dirty="0"/>
          </a:p>
          <a:p>
            <a:r>
              <a:rPr lang="en-US" sz="1600" dirty="0"/>
              <a:t>Student  Mark   Reports</a:t>
            </a:r>
          </a:p>
          <a:p>
            <a:r>
              <a:rPr lang="en-US" sz="1600" dirty="0"/>
              <a:t>Database Attendance</a:t>
            </a:r>
          </a:p>
          <a:p>
            <a:r>
              <a:rPr lang="en-US" sz="1600" dirty="0"/>
              <a:t>  |       |       |</a:t>
            </a:r>
          </a:p>
          <a:p>
            <a:r>
              <a:rPr lang="en-US" sz="1600" dirty="0"/>
              <a:t>  --------|--------</a:t>
            </a:r>
          </a:p>
          <a:p>
            <a:r>
              <a:rPr lang="en-US" sz="1600" dirty="0"/>
              <a:t>          |</a:t>
            </a:r>
          </a:p>
          <a:p>
            <a:r>
              <a:rPr lang="en-US" sz="1600" dirty="0"/>
              <a:t>          v</a:t>
            </a:r>
          </a:p>
          <a:p>
            <a:r>
              <a:rPr lang="en-US" sz="1600" dirty="0"/>
              <a:t>      Attendance</a:t>
            </a:r>
          </a:p>
          <a:p>
            <a:r>
              <a:rPr lang="en-US" sz="1600" dirty="0"/>
              <a:t>        Records</a:t>
            </a:r>
          </a:p>
        </p:txBody>
      </p:sp>
      <p:pic>
        <p:nvPicPr>
          <p:cNvPr id="3" name="Picture 2">
            <a:extLst>
              <a:ext uri="{FF2B5EF4-FFF2-40B4-BE49-F238E27FC236}">
                <a16:creationId xmlns:a16="http://schemas.microsoft.com/office/drawing/2014/main" id="{01A8919B-D2F8-AD13-EF7B-0B064723F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spTree>
    <p:extLst>
      <p:ext uri="{BB962C8B-B14F-4D97-AF65-F5344CB8AC3E}">
        <p14:creationId xmlns:p14="http://schemas.microsoft.com/office/powerpoint/2010/main" val="2703969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8A46-CB7B-6564-F4CB-75268796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7678-0395-6DAC-CFB1-E2B3DAA9A621}"/>
              </a:ext>
            </a:extLst>
          </p:cNvPr>
          <p:cNvSpPr>
            <a:spLocks noGrp="1"/>
          </p:cNvSpPr>
          <p:nvPr>
            <p:ph type="title"/>
          </p:nvPr>
        </p:nvSpPr>
        <p:spPr>
          <a:xfrm>
            <a:off x="1066800" y="274638"/>
            <a:ext cx="7848600" cy="1143000"/>
          </a:xfrm>
        </p:spPr>
        <p:txBody>
          <a:bodyPr>
            <a:normAutofit fontScale="90000"/>
          </a:bodyPr>
          <a:lstStyle/>
          <a:p>
            <a:r>
              <a:rPr lang="en-US" sz="3100" b="1" dirty="0">
                <a:solidFill>
                  <a:srgbClr val="0070C0"/>
                </a:solidFill>
                <a:latin typeface="Times New Roman" pitchFamily="18" charset="0"/>
                <a:cs typeface="Times New Roman" pitchFamily="18" charset="0"/>
              </a:rPr>
              <a:t>Objectives with Justification</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graphicFrame>
        <p:nvGraphicFramePr>
          <p:cNvPr id="3" name="Content Placeholder 2">
            <a:extLst>
              <a:ext uri="{FF2B5EF4-FFF2-40B4-BE49-F238E27FC236}">
                <a16:creationId xmlns:a16="http://schemas.microsoft.com/office/drawing/2014/main" id="{5AB9390F-86A9-1309-BDF4-30F407A5BECD}"/>
              </a:ext>
            </a:extLst>
          </p:cNvPr>
          <p:cNvGraphicFramePr>
            <a:graphicFrameLocks noGrp="1"/>
          </p:cNvGraphicFramePr>
          <p:nvPr>
            <p:ph idx="1"/>
            <p:extLst>
              <p:ext uri="{D42A27DB-BD31-4B8C-83A1-F6EECF244321}">
                <p14:modId xmlns:p14="http://schemas.microsoft.com/office/powerpoint/2010/main" val="1568053465"/>
              </p:ext>
            </p:extLst>
          </p:nvPr>
        </p:nvGraphicFramePr>
        <p:xfrm>
          <a:off x="533400" y="1066800"/>
          <a:ext cx="7162800" cy="5636741"/>
        </p:xfrm>
        <a:graphic>
          <a:graphicData uri="http://schemas.openxmlformats.org/drawingml/2006/table">
            <a:tbl>
              <a:tblPr/>
              <a:tblGrid>
                <a:gridCol w="2743200">
                  <a:extLst>
                    <a:ext uri="{9D8B030D-6E8A-4147-A177-3AD203B41FA5}">
                      <a16:colId xmlns:a16="http://schemas.microsoft.com/office/drawing/2014/main" val="2501146659"/>
                    </a:ext>
                  </a:extLst>
                </a:gridCol>
                <a:gridCol w="4419600">
                  <a:extLst>
                    <a:ext uri="{9D8B030D-6E8A-4147-A177-3AD203B41FA5}">
                      <a16:colId xmlns:a16="http://schemas.microsoft.com/office/drawing/2014/main" val="3149536194"/>
                    </a:ext>
                  </a:extLst>
                </a:gridCol>
              </a:tblGrid>
              <a:tr h="377946">
                <a:tc>
                  <a:txBody>
                    <a:bodyPr/>
                    <a:lstStyle/>
                    <a:p>
                      <a:pPr>
                        <a:buNone/>
                      </a:pPr>
                      <a:r>
                        <a:rPr lang="en-IN" sz="1600" dirty="0">
                          <a:latin typeface="Arial Black" panose="020B0A04020102020204" pitchFamily="34" charset="0"/>
                        </a:rPr>
                        <a:t>Objective</a:t>
                      </a:r>
                    </a:p>
                  </a:txBody>
                  <a:tcPr marL="84750" marR="84750" marT="42375" marB="42375" anchor="ctr">
                    <a:lnL>
                      <a:noFill/>
                    </a:lnL>
                    <a:lnR>
                      <a:noFill/>
                    </a:lnR>
                    <a:lnT>
                      <a:noFill/>
                    </a:lnT>
                    <a:lnB>
                      <a:noFill/>
                    </a:lnB>
                    <a:noFill/>
                  </a:tcPr>
                </a:tc>
                <a:tc>
                  <a:txBody>
                    <a:bodyPr/>
                    <a:lstStyle/>
                    <a:p>
                      <a:pPr>
                        <a:buNone/>
                      </a:pPr>
                      <a:r>
                        <a:rPr lang="en-IN" sz="1600" dirty="0">
                          <a:latin typeface="Arial Black" panose="020B0A04020102020204" pitchFamily="34" charset="0"/>
                        </a:rPr>
                        <a:t>Justification</a:t>
                      </a:r>
                    </a:p>
                  </a:txBody>
                  <a:tcPr marL="84750" marR="84750" marT="42375" marB="42375" anchor="ctr">
                    <a:lnL>
                      <a:noFill/>
                    </a:lnL>
                    <a:lnR>
                      <a:noFill/>
                    </a:lnR>
                    <a:lnT>
                      <a:noFill/>
                    </a:lnT>
                    <a:lnB>
                      <a:noFill/>
                    </a:lnB>
                    <a:noFill/>
                  </a:tcPr>
                </a:tc>
                <a:extLst>
                  <a:ext uri="{0D108BD9-81ED-4DB2-BD59-A6C34878D82A}">
                    <a16:rowId xmlns:a16="http://schemas.microsoft.com/office/drawing/2014/main" val="4080815845"/>
                  </a:ext>
                </a:extLst>
              </a:tr>
              <a:tr h="619664">
                <a:tc>
                  <a:txBody>
                    <a:bodyPr/>
                    <a:lstStyle/>
                    <a:p>
                      <a:pPr>
                        <a:buNone/>
                      </a:pPr>
                      <a:r>
                        <a:rPr lang="en-IN" sz="1600" dirty="0"/>
                        <a:t>Automate attendance recording</a:t>
                      </a:r>
                    </a:p>
                  </a:txBody>
                  <a:tcPr marL="84750" marR="84750" marT="42375" marB="42375" anchor="ctr">
                    <a:lnL>
                      <a:noFill/>
                    </a:lnL>
                    <a:lnR>
                      <a:noFill/>
                    </a:lnR>
                    <a:lnT>
                      <a:noFill/>
                    </a:lnT>
                    <a:lnB>
                      <a:noFill/>
                    </a:lnB>
                    <a:noFill/>
                  </a:tcPr>
                </a:tc>
                <a:tc>
                  <a:txBody>
                    <a:bodyPr/>
                    <a:lstStyle/>
                    <a:p>
                      <a:pPr>
                        <a:buNone/>
                      </a:pPr>
                      <a:r>
                        <a:rPr lang="en-GB" sz="1600"/>
                        <a:t>Saves time and reduces manual effort.</a:t>
                      </a:r>
                    </a:p>
                  </a:txBody>
                  <a:tcPr marL="84750" marR="84750" marT="42375" marB="42375" anchor="ctr">
                    <a:lnL>
                      <a:noFill/>
                    </a:lnL>
                    <a:lnR>
                      <a:noFill/>
                    </a:lnR>
                    <a:lnT>
                      <a:noFill/>
                    </a:lnT>
                    <a:lnB>
                      <a:noFill/>
                    </a:lnB>
                    <a:noFill/>
                  </a:tcPr>
                </a:tc>
                <a:extLst>
                  <a:ext uri="{0D108BD9-81ED-4DB2-BD59-A6C34878D82A}">
                    <a16:rowId xmlns:a16="http://schemas.microsoft.com/office/drawing/2014/main" val="3459277781"/>
                  </a:ext>
                </a:extLst>
              </a:tr>
              <a:tr h="662733">
                <a:tc>
                  <a:txBody>
                    <a:bodyPr/>
                    <a:lstStyle/>
                    <a:p>
                      <a:pPr>
                        <a:buNone/>
                      </a:pPr>
                      <a:r>
                        <a:rPr lang="en-IN" sz="1600" dirty="0"/>
                        <a:t>Maintain a centralized database</a:t>
                      </a:r>
                    </a:p>
                  </a:txBody>
                  <a:tcPr marL="84750" marR="84750" marT="42375" marB="42375" anchor="ctr">
                    <a:lnL>
                      <a:noFill/>
                    </a:lnL>
                    <a:lnR>
                      <a:noFill/>
                    </a:lnR>
                    <a:lnT>
                      <a:noFill/>
                    </a:lnT>
                    <a:lnB>
                      <a:noFill/>
                    </a:lnB>
                    <a:noFill/>
                  </a:tcPr>
                </a:tc>
                <a:tc>
                  <a:txBody>
                    <a:bodyPr/>
                    <a:lstStyle/>
                    <a:p>
                      <a:pPr>
                        <a:buNone/>
                      </a:pPr>
                      <a:r>
                        <a:rPr lang="en-GB" sz="1600"/>
                        <a:t>Enables secure and easy access to records.</a:t>
                      </a:r>
                    </a:p>
                  </a:txBody>
                  <a:tcPr marL="84750" marR="84750" marT="42375" marB="42375" anchor="ctr">
                    <a:lnL>
                      <a:noFill/>
                    </a:lnL>
                    <a:lnR>
                      <a:noFill/>
                    </a:lnR>
                    <a:lnT>
                      <a:noFill/>
                    </a:lnT>
                    <a:lnB>
                      <a:noFill/>
                    </a:lnB>
                    <a:noFill/>
                  </a:tcPr>
                </a:tc>
                <a:extLst>
                  <a:ext uri="{0D108BD9-81ED-4DB2-BD59-A6C34878D82A}">
                    <a16:rowId xmlns:a16="http://schemas.microsoft.com/office/drawing/2014/main" val="2736847089"/>
                  </a:ext>
                </a:extLst>
              </a:tr>
              <a:tr h="662733">
                <a:tc>
                  <a:txBody>
                    <a:bodyPr/>
                    <a:lstStyle/>
                    <a:p>
                      <a:pPr>
                        <a:buNone/>
                      </a:pPr>
                      <a:r>
                        <a:rPr lang="en-IN" sz="1600" dirty="0"/>
                        <a:t>Reduce paperwork</a:t>
                      </a:r>
                    </a:p>
                  </a:txBody>
                  <a:tcPr marL="84750" marR="84750" marT="42375" marB="42375" anchor="ctr">
                    <a:lnL>
                      <a:noFill/>
                    </a:lnL>
                    <a:lnR>
                      <a:noFill/>
                    </a:lnR>
                    <a:lnT>
                      <a:noFill/>
                    </a:lnT>
                    <a:lnB>
                      <a:noFill/>
                    </a:lnB>
                    <a:noFill/>
                  </a:tcPr>
                </a:tc>
                <a:tc>
                  <a:txBody>
                    <a:bodyPr/>
                    <a:lstStyle/>
                    <a:p>
                      <a:pPr>
                        <a:buNone/>
                      </a:pPr>
                      <a:r>
                        <a:rPr lang="en-GB" sz="1600"/>
                        <a:t>Eliminates manual registers and record keeping.</a:t>
                      </a:r>
                    </a:p>
                  </a:txBody>
                  <a:tcPr marL="84750" marR="84750" marT="42375" marB="42375" anchor="ctr">
                    <a:lnL>
                      <a:noFill/>
                    </a:lnL>
                    <a:lnR>
                      <a:noFill/>
                    </a:lnR>
                    <a:lnT>
                      <a:noFill/>
                    </a:lnT>
                    <a:lnB>
                      <a:noFill/>
                    </a:lnB>
                    <a:noFill/>
                  </a:tcPr>
                </a:tc>
                <a:extLst>
                  <a:ext uri="{0D108BD9-81ED-4DB2-BD59-A6C34878D82A}">
                    <a16:rowId xmlns:a16="http://schemas.microsoft.com/office/drawing/2014/main" val="4078764898"/>
                  </a:ext>
                </a:extLst>
              </a:tr>
              <a:tr h="662733">
                <a:tc>
                  <a:txBody>
                    <a:bodyPr/>
                    <a:lstStyle/>
                    <a:p>
                      <a:pPr>
                        <a:buNone/>
                      </a:pPr>
                      <a:r>
                        <a:rPr lang="en-IN" sz="1600" dirty="0"/>
                        <a:t>Generate attendance reports</a:t>
                      </a:r>
                    </a:p>
                  </a:txBody>
                  <a:tcPr marL="84750" marR="84750" marT="42375" marB="42375" anchor="ctr">
                    <a:lnL>
                      <a:noFill/>
                    </a:lnL>
                    <a:lnR>
                      <a:noFill/>
                    </a:lnR>
                    <a:lnT>
                      <a:noFill/>
                    </a:lnT>
                    <a:lnB>
                      <a:noFill/>
                    </a:lnB>
                    <a:noFill/>
                  </a:tcPr>
                </a:tc>
                <a:tc>
                  <a:txBody>
                    <a:bodyPr/>
                    <a:lstStyle/>
                    <a:p>
                      <a:pPr>
                        <a:buNone/>
                      </a:pPr>
                      <a:r>
                        <a:rPr lang="en-GB" sz="1600" dirty="0"/>
                        <a:t>Provides quick and accurate attendance summaries.</a:t>
                      </a:r>
                    </a:p>
                  </a:txBody>
                  <a:tcPr marL="84750" marR="84750" marT="42375" marB="42375" anchor="ctr">
                    <a:lnL>
                      <a:noFill/>
                    </a:lnL>
                    <a:lnR>
                      <a:noFill/>
                    </a:lnR>
                    <a:lnT>
                      <a:noFill/>
                    </a:lnT>
                    <a:lnB>
                      <a:noFill/>
                    </a:lnB>
                    <a:noFill/>
                  </a:tcPr>
                </a:tc>
                <a:extLst>
                  <a:ext uri="{0D108BD9-81ED-4DB2-BD59-A6C34878D82A}">
                    <a16:rowId xmlns:a16="http://schemas.microsoft.com/office/drawing/2014/main" val="4143360351"/>
                  </a:ext>
                </a:extLst>
              </a:tr>
              <a:tr h="662733">
                <a:tc>
                  <a:txBody>
                    <a:bodyPr/>
                    <a:lstStyle/>
                    <a:p>
                      <a:pPr>
                        <a:buNone/>
                      </a:pPr>
                      <a:r>
                        <a:rPr lang="en-IN" sz="1600" dirty="0"/>
                        <a:t>Improve accuracy and transparency</a:t>
                      </a:r>
                    </a:p>
                  </a:txBody>
                  <a:tcPr marL="84750" marR="84750" marT="42375" marB="42375" anchor="ctr">
                    <a:lnL>
                      <a:noFill/>
                    </a:lnL>
                    <a:lnR>
                      <a:noFill/>
                    </a:lnR>
                    <a:lnT>
                      <a:noFill/>
                    </a:lnT>
                    <a:lnB>
                      <a:noFill/>
                    </a:lnB>
                    <a:noFill/>
                  </a:tcPr>
                </a:tc>
                <a:tc>
                  <a:txBody>
                    <a:bodyPr/>
                    <a:lstStyle/>
                    <a:p>
                      <a:pPr>
                        <a:buNone/>
                      </a:pPr>
                      <a:r>
                        <a:rPr lang="en-GB" sz="1600" dirty="0"/>
                        <a:t>Minimizes human errors in attendance tracking.</a:t>
                      </a:r>
                    </a:p>
                  </a:txBody>
                  <a:tcPr marL="84750" marR="84750" marT="42375" marB="42375" anchor="ctr">
                    <a:lnL>
                      <a:noFill/>
                    </a:lnL>
                    <a:lnR>
                      <a:noFill/>
                    </a:lnR>
                    <a:lnT>
                      <a:noFill/>
                    </a:lnT>
                    <a:lnB>
                      <a:noFill/>
                    </a:lnB>
                    <a:noFill/>
                  </a:tcPr>
                </a:tc>
                <a:extLst>
                  <a:ext uri="{0D108BD9-81ED-4DB2-BD59-A6C34878D82A}">
                    <a16:rowId xmlns:a16="http://schemas.microsoft.com/office/drawing/2014/main" val="2191631640"/>
                  </a:ext>
                </a:extLst>
              </a:tr>
              <a:tr h="662733">
                <a:tc>
                  <a:txBody>
                    <a:bodyPr/>
                    <a:lstStyle/>
                    <a:p>
                      <a:pPr>
                        <a:buNone/>
                      </a:pPr>
                      <a:r>
                        <a:rPr lang="en-IN" sz="1600"/>
                        <a:t>Monitor student attendance</a:t>
                      </a:r>
                    </a:p>
                  </a:txBody>
                  <a:tcPr marL="84750" marR="84750" marT="42375" marB="42375" anchor="ctr">
                    <a:lnL>
                      <a:noFill/>
                    </a:lnL>
                    <a:lnR>
                      <a:noFill/>
                    </a:lnR>
                    <a:lnT>
                      <a:noFill/>
                    </a:lnT>
                    <a:lnB>
                      <a:noFill/>
                    </a:lnB>
                    <a:noFill/>
                  </a:tcPr>
                </a:tc>
                <a:tc>
                  <a:txBody>
                    <a:bodyPr/>
                    <a:lstStyle/>
                    <a:p>
                      <a:pPr>
                        <a:buNone/>
                      </a:pPr>
                      <a:r>
                        <a:rPr lang="en-GB" sz="1600" dirty="0"/>
                        <a:t>Helps identify students with low attendance.</a:t>
                      </a:r>
                    </a:p>
                  </a:txBody>
                  <a:tcPr marL="84750" marR="84750" marT="42375" marB="42375" anchor="ctr">
                    <a:lnL>
                      <a:noFill/>
                    </a:lnL>
                    <a:lnR>
                      <a:noFill/>
                    </a:lnR>
                    <a:lnT>
                      <a:noFill/>
                    </a:lnT>
                    <a:lnB>
                      <a:noFill/>
                    </a:lnB>
                    <a:noFill/>
                  </a:tcPr>
                </a:tc>
                <a:extLst>
                  <a:ext uri="{0D108BD9-81ED-4DB2-BD59-A6C34878D82A}">
                    <a16:rowId xmlns:a16="http://schemas.microsoft.com/office/drawing/2014/main" val="4000727404"/>
                  </a:ext>
                </a:extLst>
              </a:tr>
              <a:tr h="662733">
                <a:tc>
                  <a:txBody>
                    <a:bodyPr/>
                    <a:lstStyle/>
                    <a:p>
                      <a:pPr>
                        <a:buNone/>
                      </a:pPr>
                      <a:r>
                        <a:rPr lang="en-IN" sz="1600"/>
                        <a:t>Ensure secure access</a:t>
                      </a:r>
                    </a:p>
                  </a:txBody>
                  <a:tcPr marL="84750" marR="84750" marT="42375" marB="42375" anchor="ctr">
                    <a:lnL>
                      <a:noFill/>
                    </a:lnL>
                    <a:lnR>
                      <a:noFill/>
                    </a:lnR>
                    <a:lnT>
                      <a:noFill/>
                    </a:lnT>
                    <a:lnB>
                      <a:noFill/>
                    </a:lnB>
                    <a:noFill/>
                  </a:tcPr>
                </a:tc>
                <a:tc>
                  <a:txBody>
                    <a:bodyPr/>
                    <a:lstStyle/>
                    <a:p>
                      <a:pPr>
                        <a:buNone/>
                      </a:pPr>
                      <a:r>
                        <a:rPr lang="en-GB" sz="1600" dirty="0"/>
                        <a:t>Protects data through authorized login access.</a:t>
                      </a:r>
                    </a:p>
                  </a:txBody>
                  <a:tcPr marL="84750" marR="84750" marT="42375" marB="42375" anchor="ctr">
                    <a:lnL>
                      <a:noFill/>
                    </a:lnL>
                    <a:lnR>
                      <a:noFill/>
                    </a:lnR>
                    <a:lnT>
                      <a:noFill/>
                    </a:lnT>
                    <a:lnB>
                      <a:noFill/>
                    </a:lnB>
                    <a:noFill/>
                  </a:tcPr>
                </a:tc>
                <a:extLst>
                  <a:ext uri="{0D108BD9-81ED-4DB2-BD59-A6C34878D82A}">
                    <a16:rowId xmlns:a16="http://schemas.microsoft.com/office/drawing/2014/main" val="3940760472"/>
                  </a:ext>
                </a:extLst>
              </a:tr>
              <a:tr h="662733">
                <a:tc>
                  <a:txBody>
                    <a:bodyPr/>
                    <a:lstStyle/>
                    <a:p>
                      <a:pPr>
                        <a:buNone/>
                      </a:pPr>
                      <a:r>
                        <a:rPr lang="en-IN" sz="1600"/>
                        <a:t>Enhance institutional efficiency</a:t>
                      </a:r>
                    </a:p>
                  </a:txBody>
                  <a:tcPr marL="84750" marR="84750" marT="42375" marB="42375" anchor="ctr">
                    <a:lnL>
                      <a:noFill/>
                    </a:lnL>
                    <a:lnR>
                      <a:noFill/>
                    </a:lnR>
                    <a:lnT>
                      <a:noFill/>
                    </a:lnT>
                    <a:lnB>
                      <a:noFill/>
                    </a:lnB>
                    <a:noFill/>
                  </a:tcPr>
                </a:tc>
                <a:tc>
                  <a:txBody>
                    <a:bodyPr/>
                    <a:lstStyle/>
                    <a:p>
                      <a:pPr>
                        <a:buNone/>
                      </a:pPr>
                      <a:r>
                        <a:rPr lang="en-IN" sz="1600" dirty="0"/>
                        <a:t>Streamlines attendance management processes.</a:t>
                      </a:r>
                    </a:p>
                  </a:txBody>
                  <a:tcPr marL="84750" marR="84750" marT="42375" marB="42375" anchor="ctr">
                    <a:lnL>
                      <a:noFill/>
                    </a:lnL>
                    <a:lnR>
                      <a:noFill/>
                    </a:lnR>
                    <a:lnT>
                      <a:noFill/>
                    </a:lnT>
                    <a:lnB>
                      <a:noFill/>
                    </a:lnB>
                    <a:noFill/>
                  </a:tcPr>
                </a:tc>
                <a:extLst>
                  <a:ext uri="{0D108BD9-81ED-4DB2-BD59-A6C34878D82A}">
                    <a16:rowId xmlns:a16="http://schemas.microsoft.com/office/drawing/2014/main" val="1147087343"/>
                  </a:ext>
                </a:extLst>
              </a:tr>
            </a:tbl>
          </a:graphicData>
        </a:graphic>
      </p:graphicFrame>
      <p:pic>
        <p:nvPicPr>
          <p:cNvPr id="4" name="Picture 3">
            <a:extLst>
              <a:ext uri="{FF2B5EF4-FFF2-40B4-BE49-F238E27FC236}">
                <a16:creationId xmlns:a16="http://schemas.microsoft.com/office/drawing/2014/main" id="{3DE80AD5-163E-DB68-2056-49EE1F1D6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extLst>
      <p:ext uri="{BB962C8B-B14F-4D97-AF65-F5344CB8AC3E}">
        <p14:creationId xmlns:p14="http://schemas.microsoft.com/office/powerpoint/2010/main" val="3699654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p:nvPr>
        </p:nvSpPr>
        <p:spPr>
          <a:xfrm>
            <a:off x="1219200" y="0"/>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
        <p:nvSpPr>
          <p:cNvPr id="3" name="Rectangle 1">
            <a:extLst>
              <a:ext uri="{FF2B5EF4-FFF2-40B4-BE49-F238E27FC236}">
                <a16:creationId xmlns:a16="http://schemas.microsoft.com/office/drawing/2014/main" id="{3107CE66-8B5F-3198-4270-6519392EFB13}"/>
              </a:ext>
            </a:extLst>
          </p:cNvPr>
          <p:cNvSpPr>
            <a:spLocks noGrp="1" noChangeArrowheads="1"/>
          </p:cNvSpPr>
          <p:nvPr>
            <p:ph idx="1"/>
          </p:nvPr>
        </p:nvSpPr>
        <p:spPr bwMode="auto">
          <a:xfrm>
            <a:off x="457200" y="957590"/>
            <a:ext cx="670560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Dashboard Module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Student Management Module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Class Management Module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Attendance Management Module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Attendance Records Module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Reports Module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Authentication Module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User Profile Module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Settings Module </a:t>
            </a:r>
          </a:p>
        </p:txBody>
      </p:sp>
    </p:spTree>
    <p:extLst>
      <p:ext uri="{BB962C8B-B14F-4D97-AF65-F5344CB8AC3E}">
        <p14:creationId xmlns:p14="http://schemas.microsoft.com/office/powerpoint/2010/main" val="2608133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a:xfrm>
            <a:off x="1524000" y="274638"/>
            <a:ext cx="7162800" cy="868362"/>
          </a:xfrm>
        </p:spPr>
        <p:txBody>
          <a:bodyPr>
            <a:normAutofit fontScale="90000"/>
          </a:bodyPr>
          <a:lstStyle/>
          <a:p>
            <a:r>
              <a:rPr lang="en-US" sz="3100" b="1" dirty="0">
                <a:solidFill>
                  <a:srgbClr val="0070C0"/>
                </a:solidFill>
                <a:latin typeface="Times New Roman" pitchFamily="18" charset="0"/>
                <a:cs typeface="Times New Roman" pitchFamily="18" charset="0"/>
              </a:rPr>
              <a:t>Expected Outcomes of the Proposed Work</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2270A7B1-AE81-675E-BE7D-3D5A36D1C3B2}"/>
              </a:ext>
            </a:extLst>
          </p:cNvPr>
          <p:cNvSpPr>
            <a:spLocks noGrp="1"/>
          </p:cNvSpPr>
          <p:nvPr>
            <p:ph idx="1"/>
          </p:nvPr>
        </p:nvSpPr>
        <p:spPr>
          <a:xfrm>
            <a:off x="457200" y="1143000"/>
            <a:ext cx="8534400" cy="5440361"/>
          </a:xfrm>
        </p:spPr>
        <p:txBody>
          <a:bodyPr>
            <a:normAutofit lnSpcReduction="10000"/>
          </a:bodyPr>
          <a:lstStyle/>
          <a:p>
            <a:r>
              <a:rPr lang="en-IN" sz="2000" dirty="0"/>
              <a:t>Automated attendance tracking</a:t>
            </a:r>
          </a:p>
          <a:p>
            <a:pPr marL="0" indent="0">
              <a:buNone/>
            </a:pPr>
            <a:endParaRPr lang="en-IN" sz="2000" dirty="0"/>
          </a:p>
          <a:p>
            <a:r>
              <a:rPr lang="en-IN" sz="2000" dirty="0"/>
              <a:t>Reduced manual work and paperwork</a:t>
            </a:r>
          </a:p>
          <a:p>
            <a:pPr marL="0" indent="0">
              <a:buNone/>
            </a:pPr>
            <a:endParaRPr lang="en-IN" sz="2000" dirty="0"/>
          </a:p>
          <a:p>
            <a:r>
              <a:rPr lang="en-IN" sz="2000" dirty="0"/>
              <a:t>Improved accuracy and reliability</a:t>
            </a:r>
          </a:p>
          <a:p>
            <a:pPr marL="0" indent="0">
              <a:buNone/>
            </a:pPr>
            <a:endParaRPr lang="en-IN" sz="2000" dirty="0"/>
          </a:p>
          <a:p>
            <a:r>
              <a:rPr lang="en-IN" sz="2000" dirty="0"/>
              <a:t>Centralized data management</a:t>
            </a:r>
          </a:p>
          <a:p>
            <a:pPr marL="0" indent="0">
              <a:buNone/>
            </a:pPr>
            <a:endParaRPr lang="en-IN" sz="2000" dirty="0"/>
          </a:p>
          <a:p>
            <a:r>
              <a:rPr lang="en-IN" sz="2000" dirty="0"/>
              <a:t>Faster report generation</a:t>
            </a:r>
          </a:p>
          <a:p>
            <a:pPr marL="0" indent="0">
              <a:buNone/>
            </a:pPr>
            <a:endParaRPr lang="en-IN" sz="2000" dirty="0"/>
          </a:p>
          <a:p>
            <a:r>
              <a:rPr lang="en-IN" sz="2000" dirty="0"/>
              <a:t>Better attendance monitoring</a:t>
            </a:r>
          </a:p>
          <a:p>
            <a:pPr marL="0" indent="0">
              <a:buNone/>
            </a:pPr>
            <a:endParaRPr lang="en-IN" sz="2000" dirty="0"/>
          </a:p>
          <a:p>
            <a:r>
              <a:rPr lang="en-IN" sz="2000" dirty="0"/>
              <a:t>Secure record storage</a:t>
            </a:r>
          </a:p>
          <a:p>
            <a:pPr marL="0" indent="0">
              <a:buNone/>
            </a:pPr>
            <a:endParaRPr lang="en-IN" sz="2000" dirty="0"/>
          </a:p>
          <a:p>
            <a:r>
              <a:rPr lang="en-IN" sz="2000" dirty="0"/>
              <a:t>Increased institutional efficiency</a:t>
            </a:r>
          </a:p>
        </p:txBody>
      </p:sp>
      <p:pic>
        <p:nvPicPr>
          <p:cNvPr id="5" name="Picture 4">
            <a:extLst>
              <a:ext uri="{FF2B5EF4-FFF2-40B4-BE49-F238E27FC236}">
                <a16:creationId xmlns:a16="http://schemas.microsoft.com/office/drawing/2014/main" id="{7FCB392D-6672-9401-8EB8-2E1BA48858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Tree>
    <p:extLst>
      <p:ext uri="{BB962C8B-B14F-4D97-AF65-F5344CB8AC3E}">
        <p14:creationId xmlns:p14="http://schemas.microsoft.com/office/powerpoint/2010/main" val="2610488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dirty="0">
                <a:solidFill>
                  <a:srgbClr val="0070C0"/>
                </a:solidFill>
                <a:latin typeface="Times New Roman" pitchFamily="18" charset="0"/>
                <a:cs typeface="Times New Roman" pitchFamily="18" charset="0"/>
              </a:rPr>
              <a:t>Conclusion and Future Scope</a:t>
            </a:r>
            <a:endParaRPr lang="en-IN" sz="2800"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4422A072-7E3B-BDEF-9B7B-27625990219B}"/>
              </a:ext>
            </a:extLst>
          </p:cNvPr>
          <p:cNvSpPr>
            <a:spLocks noGrp="1"/>
          </p:cNvSpPr>
          <p:nvPr>
            <p:ph idx="1"/>
          </p:nvPr>
        </p:nvSpPr>
        <p:spPr>
          <a:xfrm>
            <a:off x="228600" y="1050925"/>
            <a:ext cx="8839200" cy="5715000"/>
          </a:xfrm>
        </p:spPr>
        <p:txBody>
          <a:bodyPr>
            <a:normAutofit fontScale="92500" lnSpcReduction="20000"/>
          </a:bodyPr>
          <a:lstStyle/>
          <a:p>
            <a:r>
              <a:rPr lang="en-IN" sz="1900" b="1" dirty="0"/>
              <a:t>Conclusion</a:t>
            </a:r>
          </a:p>
          <a:p>
            <a:pPr marL="0" indent="0">
              <a:buNone/>
            </a:pPr>
            <a:endParaRPr lang="en-IN" sz="1900" dirty="0"/>
          </a:p>
          <a:p>
            <a:r>
              <a:rPr lang="en-IN" sz="1700" dirty="0"/>
              <a:t>Automates attendance management. </a:t>
            </a:r>
          </a:p>
          <a:p>
            <a:endParaRPr lang="en-IN" sz="1700" dirty="0"/>
          </a:p>
          <a:p>
            <a:r>
              <a:rPr lang="en-IN" sz="1700" dirty="0"/>
              <a:t>Reduces errors and paperwork. </a:t>
            </a:r>
          </a:p>
          <a:p>
            <a:endParaRPr lang="en-IN" sz="1700" dirty="0"/>
          </a:p>
          <a:p>
            <a:r>
              <a:rPr lang="en-IN" sz="1700" dirty="0"/>
              <a:t>Improves accuracy and efficiency. </a:t>
            </a:r>
          </a:p>
          <a:p>
            <a:endParaRPr lang="en-IN" sz="1700" dirty="0"/>
          </a:p>
          <a:p>
            <a:pPr marL="0" indent="0">
              <a:buNone/>
            </a:pPr>
            <a:endParaRPr lang="en-IN" sz="1700" dirty="0"/>
          </a:p>
          <a:p>
            <a:r>
              <a:rPr lang="en-IN" sz="1800" b="1" dirty="0"/>
              <a:t>Future Scope</a:t>
            </a:r>
          </a:p>
          <a:p>
            <a:pPr marL="0" indent="0">
              <a:buNone/>
            </a:pPr>
            <a:endParaRPr lang="en-IN" sz="1800" dirty="0"/>
          </a:p>
          <a:p>
            <a:r>
              <a:rPr lang="en-IN" sz="1600" dirty="0"/>
              <a:t>QR Code Attendance </a:t>
            </a:r>
          </a:p>
          <a:p>
            <a:pPr marL="0" indent="0">
              <a:buNone/>
            </a:pPr>
            <a:endParaRPr lang="en-IN" sz="1600" dirty="0"/>
          </a:p>
          <a:p>
            <a:r>
              <a:rPr lang="en-IN" sz="1600" dirty="0"/>
              <a:t>Face Recognition Integration </a:t>
            </a:r>
          </a:p>
          <a:p>
            <a:pPr marL="0" indent="0">
              <a:buNone/>
            </a:pPr>
            <a:endParaRPr lang="en-IN" sz="1600" dirty="0"/>
          </a:p>
          <a:p>
            <a:r>
              <a:rPr lang="en-IN" sz="1600" dirty="0"/>
              <a:t>Mobile App Development </a:t>
            </a:r>
          </a:p>
          <a:p>
            <a:pPr marL="0" indent="0">
              <a:buNone/>
            </a:pPr>
            <a:endParaRPr lang="en-IN" sz="1600" dirty="0"/>
          </a:p>
          <a:p>
            <a:r>
              <a:rPr lang="en-IN" sz="1600" dirty="0"/>
              <a:t>Parent Notifications </a:t>
            </a:r>
          </a:p>
          <a:p>
            <a:pPr marL="0" indent="0">
              <a:buNone/>
            </a:pPr>
            <a:endParaRPr lang="en-IN" sz="1600" dirty="0"/>
          </a:p>
          <a:p>
            <a:r>
              <a:rPr lang="en-IN" sz="1600" dirty="0"/>
              <a:t>Cloud Storage </a:t>
            </a:r>
          </a:p>
          <a:p>
            <a:pPr marL="0" indent="0">
              <a:buNone/>
            </a:pPr>
            <a:endParaRPr lang="en-IN" sz="1600" dirty="0"/>
          </a:p>
          <a:p>
            <a:r>
              <a:rPr lang="en-IN" sz="1600" dirty="0"/>
              <a:t>AI-based Analytics &amp; Prediction</a:t>
            </a:r>
          </a:p>
          <a:p>
            <a:endParaRPr lang="en-US" dirty="0"/>
          </a:p>
        </p:txBody>
      </p:sp>
      <p:pic>
        <p:nvPicPr>
          <p:cNvPr id="3" name="Picture 2">
            <a:extLst>
              <a:ext uri="{FF2B5EF4-FFF2-40B4-BE49-F238E27FC236}">
                <a16:creationId xmlns:a16="http://schemas.microsoft.com/office/drawing/2014/main" id="{2F884086-DCA6-09DA-2ED3-B35984EF3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p>
        </p:txBody>
      </p:sp>
      <p:sp>
        <p:nvSpPr>
          <p:cNvPr id="6" name="Content Placeholder 5">
            <a:extLst>
              <a:ext uri="{FF2B5EF4-FFF2-40B4-BE49-F238E27FC236}">
                <a16:creationId xmlns:a16="http://schemas.microsoft.com/office/drawing/2014/main" id="{DEC677EB-3C69-1E22-5FF9-F70E3FD9963F}"/>
              </a:ext>
            </a:extLst>
          </p:cNvPr>
          <p:cNvSpPr>
            <a:spLocks noGrp="1"/>
          </p:cNvSpPr>
          <p:nvPr>
            <p:ph idx="1"/>
          </p:nvPr>
        </p:nvSpPr>
        <p:spPr/>
        <p:txBody>
          <a:bodyPr>
            <a:normAutofit lnSpcReduction="10000"/>
          </a:bodyPr>
          <a:lstStyle/>
          <a:p>
            <a:r>
              <a:rPr lang="en-IN" sz="1900" dirty="0"/>
              <a:t>React.js Documentation</a:t>
            </a:r>
          </a:p>
          <a:p>
            <a:endParaRPr lang="en-IN" sz="1900" dirty="0"/>
          </a:p>
          <a:p>
            <a:r>
              <a:rPr lang="en-IN" sz="1900" dirty="0"/>
              <a:t>Node.js Documentation</a:t>
            </a:r>
          </a:p>
          <a:p>
            <a:endParaRPr lang="en-IN" sz="1900" dirty="0"/>
          </a:p>
          <a:p>
            <a:r>
              <a:rPr lang="en-IN" sz="1900" dirty="0"/>
              <a:t>Express.js Documentation</a:t>
            </a:r>
          </a:p>
          <a:p>
            <a:endParaRPr lang="en-IN" sz="1900" dirty="0"/>
          </a:p>
          <a:p>
            <a:r>
              <a:rPr lang="en-IN" sz="1900" dirty="0"/>
              <a:t>MySQL Documentation</a:t>
            </a:r>
          </a:p>
          <a:p>
            <a:endParaRPr lang="en-IN" sz="1900" dirty="0"/>
          </a:p>
          <a:p>
            <a:r>
              <a:rPr lang="en-IN" sz="1900" dirty="0"/>
              <a:t>Bootstrap Documentation</a:t>
            </a:r>
          </a:p>
          <a:p>
            <a:endParaRPr lang="en-IN" sz="1900" dirty="0"/>
          </a:p>
          <a:p>
            <a:r>
              <a:rPr lang="en-IN" sz="1900" dirty="0"/>
              <a:t>Research Papers on Online Healthcare Systems</a:t>
            </a:r>
          </a:p>
          <a:p>
            <a:endParaRPr lang="en-IN" sz="1900" dirty="0"/>
          </a:p>
          <a:p>
            <a:r>
              <a:rPr lang="en-IN" sz="1900" dirty="0"/>
              <a:t>Healthcare Appointment Management Studies</a:t>
            </a:r>
          </a:p>
          <a:p>
            <a:endParaRPr lang="en-IN" dirty="0"/>
          </a:p>
        </p:txBody>
      </p:sp>
      <p:pic>
        <p:nvPicPr>
          <p:cNvPr id="5" name="Picture 4">
            <a:extLst>
              <a:ext uri="{FF2B5EF4-FFF2-40B4-BE49-F238E27FC236}">
                <a16:creationId xmlns:a16="http://schemas.microsoft.com/office/drawing/2014/main" id="{381A5246-9866-9B93-E230-979326343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2075-789A-8ABC-0318-3539CA69D3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CD8B799-1014-A270-C662-4E878FAC9288}"/>
              </a:ext>
            </a:extLst>
          </p:cNvPr>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558411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1929</TotalTime>
  <Words>1080</Words>
  <Application>Microsoft Office PowerPoint</Application>
  <PresentationFormat>On-screen Show (4:3)</PresentationFormat>
  <Paragraphs>174</Paragraphs>
  <Slides>12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Arial Black</vt:lpstr>
      <vt:lpstr>Calibri</vt:lpstr>
      <vt:lpstr>Times New Roman</vt:lpstr>
      <vt:lpstr>Office Theme</vt:lpstr>
      <vt:lpstr>PowerPoint Presentation</vt:lpstr>
      <vt:lpstr>Outline of the Presentation</vt:lpstr>
      <vt:lpstr>Abstract</vt:lpstr>
      <vt:lpstr>Introduction</vt:lpstr>
      <vt:lpstr>Problem Statement </vt:lpstr>
      <vt:lpstr>Project Flow Diagram</vt:lpstr>
      <vt:lpstr>Objectives with Justification </vt:lpstr>
      <vt:lpstr>Modules [Frontend web pages]</vt:lpstr>
      <vt:lpstr>Expected Outcomes of the Proposed Work </vt:lpstr>
      <vt:lpstr>Conclusion and Future Scope</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Kheerthi ganta</cp:lastModifiedBy>
  <cp:revision>200</cp:revision>
  <dcterms:created xsi:type="dcterms:W3CDTF">2006-08-16T00:00:00Z</dcterms:created>
  <dcterms:modified xsi:type="dcterms:W3CDTF">2026-06-19T08:05:06Z</dcterms:modified>
</cp:coreProperties>
</file>